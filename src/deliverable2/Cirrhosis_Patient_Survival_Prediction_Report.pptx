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04BA39-5CB6-40D3-A47A-5A928CE76852}">
  <a:tblStyle styleId="{4304BA39-5CB6-40D3-A47A-5A928CE768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79d1318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79d1318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79d1318e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79d1318e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79d1318e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79d1318e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9d1318e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79d1318e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79d1318eb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79d1318e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9d1318eb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79d1318eb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9d1318e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79d1318e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79d1318eb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79d1318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79d1318e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79d1318e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79d1318e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79d1318e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79d1318e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79d1318e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79d1318e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79d1318e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79d1318e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79d1318e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79d1318e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79d1318e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79d1318e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79d1318e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79d1318e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79d1318e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79d1318e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79d1318e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9d1318eb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f79d1318eb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539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4280"/>
              <a:t>Explainability and Interpretability</a:t>
            </a:r>
            <a:endParaRPr sz="42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i="1" sz="34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964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132"/>
              <a:buFont typeface="Arial"/>
              <a:buNone/>
            </a:pPr>
            <a:r>
              <a:rPr i="1" lang="es" sz="3180"/>
              <a:t>Applied to Cirrhosis Patient Survival Prediction</a:t>
            </a:r>
            <a:r>
              <a:rPr i="1" lang="es" sz="3480"/>
              <a:t> </a:t>
            </a:r>
            <a:endParaRPr i="1" sz="34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Project Goal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Evaluate imputation strategies on missing clinical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Address class imbalance in the target variable (Status)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Compare multiclass classification approaches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Explain model predictions using SHAP, LIME, PDP, ALE and DiCE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Dataset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Rows: 418 patients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Target: Status (C | CL | 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Class imbalance: CL = 6%, C = 55%, D = 39%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Missing values: 106 non-trial patients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Source: cirrhosis.csv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Preprocessing Pipeline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52825" y="1205225"/>
            <a:ext cx="632700" cy="6819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1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52825" y="2045550"/>
            <a:ext cx="632700" cy="6819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2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452825" y="2885888"/>
            <a:ext cx="632700" cy="6819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3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452825" y="3726250"/>
            <a:ext cx="632700" cy="681900"/>
          </a:xfrm>
          <a:prstGeom prst="ellipse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1"/>
                </a:solidFill>
              </a:rPr>
              <a:t>4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1439700" y="1168175"/>
            <a:ext cx="7392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Drop ID + Convert Age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Remove ID column. Convert Age from days to years (Age/365.25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392625" y="1947725"/>
            <a:ext cx="7392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Log transformation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log(1+x) applied to Bilirubin, Cholesterol, Copper, Alk_Phos, SGOT, Tryglicerides</a:t>
            </a:r>
            <a:endParaRPr sz="1100">
              <a:solidFill>
                <a:srgbClr val="64748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439700" y="2848850"/>
            <a:ext cx="7392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Encode Categorical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get_dummies on Drug, Sex, Ascites, Hepatomegaly, Spiders, Edema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439700" y="3689200"/>
            <a:ext cx="73926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Train/Test Split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2"/>
                </a:solidFill>
              </a:rPr>
              <a:t>80/20 stratified split. Imputation fitted only on X_train to avoid data leakage</a:t>
            </a:r>
            <a:endParaRPr sz="15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cxnSp>
        <p:nvCxnSpPr>
          <p:cNvPr id="81" name="Google Shape;81;p16"/>
          <p:cNvCxnSpPr>
            <a:stCxn id="73" idx="4"/>
            <a:endCxn id="74" idx="0"/>
          </p:cNvCxnSpPr>
          <p:nvPr/>
        </p:nvCxnSpPr>
        <p:spPr>
          <a:xfrm>
            <a:off x="769175" y="1887125"/>
            <a:ext cx="0" cy="15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" name="Google Shape;82;p16"/>
          <p:cNvCxnSpPr>
            <a:stCxn id="74" idx="4"/>
            <a:endCxn id="75" idx="0"/>
          </p:cNvCxnSpPr>
          <p:nvPr/>
        </p:nvCxnSpPr>
        <p:spPr>
          <a:xfrm>
            <a:off x="769175" y="2727450"/>
            <a:ext cx="0" cy="15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16"/>
          <p:cNvCxnSpPr>
            <a:stCxn id="75" idx="4"/>
            <a:endCxn id="76" idx="0"/>
          </p:cNvCxnSpPr>
          <p:nvPr/>
        </p:nvCxnSpPr>
        <p:spPr>
          <a:xfrm>
            <a:off x="769175" y="3567788"/>
            <a:ext cx="0" cy="15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EDA: Status Distribution and Missing Values Analysis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47" y="1268113"/>
            <a:ext cx="4115150" cy="330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822" y="1535725"/>
            <a:ext cx="4193929" cy="2765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EDA: Numeric Distributions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50" y="1017725"/>
            <a:ext cx="2497076" cy="202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8900" y="1017725"/>
            <a:ext cx="2497076" cy="2021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5975" y="1017725"/>
            <a:ext cx="2497076" cy="2021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1824" y="3039374"/>
            <a:ext cx="2497076" cy="1964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EDA: Corre</a:t>
            </a:r>
            <a:r>
              <a:rPr lang="es"/>
              <a:t>lation between variables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838" y="1122900"/>
            <a:ext cx="509031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EDA: Case Distribution and Clinical Status by Disease Stage </a:t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395072"/>
            <a:ext cx="4166400" cy="33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050" y="1372645"/>
            <a:ext cx="4166400" cy="3378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Imputation and Class Imbalance</a:t>
            </a:r>
            <a:endParaRPr/>
          </a:p>
        </p:txBody>
      </p:sp>
      <p:graphicFrame>
        <p:nvGraphicFramePr>
          <p:cNvPr id="118" name="Google Shape;118;p21"/>
          <p:cNvGraphicFramePr/>
          <p:nvPr/>
        </p:nvGraphicFramePr>
        <p:xfrm>
          <a:off x="508825" y="17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{4304BA39-5CB6-40D3-A47A-5A928CE76852}</a:tableStyleId>
              </a:tblPr>
              <a:tblGrid>
                <a:gridCol w="1726925"/>
                <a:gridCol w="1726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Strategy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Macro F1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MICE </a:t>
                      </a:r>
                      <a:r>
                        <a:rPr b="1" lang="es" sz="1200">
                          <a:solidFill>
                            <a:schemeClr val="accent5"/>
                          </a:solidFill>
                        </a:rPr>
                        <a:t>✓</a:t>
                      </a:r>
                      <a:r>
                        <a:rPr b="1" lang="es" sz="1100">
                          <a:solidFill>
                            <a:schemeClr val="accent5"/>
                          </a:solidFill>
                        </a:rPr>
                        <a:t> </a:t>
                      </a:r>
                      <a:r>
                        <a:rPr b="1" lang="es">
                          <a:solidFill>
                            <a:schemeClr val="accent5"/>
                          </a:solidFill>
                        </a:rPr>
                        <a:t> (selected)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0.537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MissForest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0.526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KNN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0.526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9" name="Google Shape;119;p21"/>
          <p:cNvGraphicFramePr/>
          <p:nvPr/>
        </p:nvGraphicFramePr>
        <p:xfrm>
          <a:off x="4666275" y="17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{4304BA39-5CB6-40D3-A47A-5A928CE76852}</a:tableStyleId>
              </a:tblPr>
              <a:tblGrid>
                <a:gridCol w="1902300"/>
                <a:gridCol w="19023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Strategy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Accuracy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Baseline </a:t>
                      </a:r>
                      <a:r>
                        <a:rPr b="1" lang="es" sz="1200">
                          <a:solidFill>
                            <a:schemeClr val="accent5"/>
                          </a:solidFill>
                        </a:rPr>
                        <a:t>✓ (selected)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0.810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SMOTE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0.774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ENN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0.750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SMOTEENN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0.750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" name="Google Shape;120;p21"/>
          <p:cNvSpPr txBox="1"/>
          <p:nvPr/>
        </p:nvSpPr>
        <p:spPr>
          <a:xfrm>
            <a:off x="508825" y="1226075"/>
            <a:ext cx="361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Imputation Strategy Comparison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4666275" y="1226075"/>
            <a:ext cx="358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Sampling </a:t>
            </a:r>
            <a:r>
              <a:rPr lang="es" sz="1800">
                <a:solidFill>
                  <a:schemeClr val="dk2"/>
                </a:solidFill>
              </a:rPr>
              <a:t>Strategy Comparison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Multiclass Strategies and Model Selection</a:t>
            </a:r>
            <a:endParaRPr/>
          </a:p>
        </p:txBody>
      </p:sp>
      <p:graphicFrame>
        <p:nvGraphicFramePr>
          <p:cNvPr id="127" name="Google Shape;127;p22"/>
          <p:cNvGraphicFramePr/>
          <p:nvPr/>
        </p:nvGraphicFramePr>
        <p:xfrm>
          <a:off x="481600" y="177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{4304BA39-5CB6-40D3-A47A-5A928CE76852}</a:tableStyleId>
              </a:tblPr>
              <a:tblGrid>
                <a:gridCol w="1721500"/>
                <a:gridCol w="1721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Strategy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lt1"/>
                          </a:solidFill>
                        </a:rPr>
                        <a:t>Accuracy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Softmax </a:t>
                      </a:r>
                      <a:r>
                        <a:rPr b="1" lang="es" sz="1200">
                          <a:solidFill>
                            <a:schemeClr val="accent5"/>
                          </a:solidFill>
                        </a:rPr>
                        <a:t>✓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0.738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One-vs-One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0.726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One-vs-Rest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0.726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" name="Google Shape;128;p22"/>
          <p:cNvGraphicFramePr/>
          <p:nvPr/>
        </p:nvGraphicFramePr>
        <p:xfrm>
          <a:off x="4436450" y="181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{4304BA39-5CB6-40D3-A47A-5A928CE76852}</a:tableStyleId>
              </a:tblPr>
              <a:tblGrid>
                <a:gridCol w="1002475"/>
                <a:gridCol w="1002475"/>
                <a:gridCol w="1002475"/>
                <a:gridCol w="10024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Class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Precision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Recall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lt1"/>
                          </a:solidFill>
                        </a:rPr>
                        <a:t>F1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7376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0.79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0.96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0.87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4"/>
                          </a:solidFill>
                        </a:rPr>
                        <a:t>0.00</a:t>
                      </a:r>
                      <a:endParaRPr b="1">
                        <a:solidFill>
                          <a:schemeClr val="accent4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0.85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0.72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>
                          <a:solidFill>
                            <a:schemeClr val="accent5"/>
                          </a:solidFill>
                        </a:rPr>
                        <a:t>0.78</a:t>
                      </a:r>
                      <a:endParaRPr b="1">
                        <a:solidFill>
                          <a:schemeClr val="accent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Macro avg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0.56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0.55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9" name="Google Shape;129;p22"/>
          <p:cNvSpPr txBox="1"/>
          <p:nvPr/>
        </p:nvSpPr>
        <p:spPr>
          <a:xfrm>
            <a:off x="508825" y="1226075"/>
            <a:ext cx="361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Multiclass </a:t>
            </a:r>
            <a:r>
              <a:rPr lang="es" sz="1800">
                <a:solidFill>
                  <a:schemeClr val="dk2"/>
                </a:solidFill>
              </a:rPr>
              <a:t>Strategy Comparison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4436450" y="1226075"/>
            <a:ext cx="416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Random Forest - Classification Report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9250" y="1870238"/>
            <a:ext cx="2800475" cy="3273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1525" y="0"/>
            <a:ext cx="1805375" cy="205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Explainability: SHAP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775" y="1870225"/>
            <a:ext cx="2800475" cy="32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6900" y="1870221"/>
            <a:ext cx="2800475" cy="327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Local explainability: SHAP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525" y="978075"/>
            <a:ext cx="5353901" cy="4165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PDP (Partial Dependence Plots)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569" y="925800"/>
            <a:ext cx="6378867" cy="14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2575" y="2303772"/>
            <a:ext cx="6378849" cy="141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2575" y="3715754"/>
            <a:ext cx="6378849" cy="1411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ALE (Accumulated Local Effects)</a:t>
            </a:r>
            <a:endParaRPr/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475" y="1017725"/>
            <a:ext cx="3784250" cy="2097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438" y="888825"/>
            <a:ext cx="4028176" cy="222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849" y="3051781"/>
            <a:ext cx="4237050" cy="2091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5482" y="3051775"/>
            <a:ext cx="3784242" cy="20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Explainability with LIME</a:t>
            </a:r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2679" y="89875"/>
            <a:ext cx="5331197" cy="18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8875" y="3304125"/>
            <a:ext cx="4965001" cy="176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25" y="1897875"/>
            <a:ext cx="4726514" cy="168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Counterfactual (DiCE)</a:t>
            </a:r>
            <a:endParaRPr/>
          </a:p>
        </p:txBody>
      </p:sp>
      <p:graphicFrame>
        <p:nvGraphicFramePr>
          <p:cNvPr id="176" name="Google Shape;176;p28"/>
          <p:cNvGraphicFramePr/>
          <p:nvPr/>
        </p:nvGraphicFramePr>
        <p:xfrm>
          <a:off x="952500" y="272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{4304BA39-5CB6-40D3-A47A-5A928CE76852}</a:tableStyleId>
              </a:tblPr>
              <a:tblGrid>
                <a:gridCol w="1005975"/>
                <a:gridCol w="1407025"/>
                <a:gridCol w="1206500"/>
                <a:gridCol w="1206500"/>
                <a:gridCol w="1306775"/>
                <a:gridCol w="110622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Counterfactual 0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Counterfactual 1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Counterfactual 2</a:t>
                      </a:r>
                      <a:endParaRPr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N_Days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221 → 2514.5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N_Days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221 → 3738.6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N_Days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221 → 2515.5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Prothrombin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11.6 → 10.2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Prothrombin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11.6 → 10.4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Prothrombin</a:t>
                      </a:r>
                      <a:r>
                        <a:rPr lang="es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11.6 → 10.2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Albumin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2.58 → 3.49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log_Copper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6.16 → 4.82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log_Bilirubin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2.708 → 1.367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log_SGOT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5.34 → 4.37</a:t>
                      </a:r>
                      <a:endParaRPr sz="1100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log_SGOT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5.34 → 4.6</a:t>
                      </a:r>
                      <a:r>
                        <a:rPr lang="es" sz="1100"/>
                        <a:t>5</a:t>
                      </a:r>
                      <a:endParaRPr sz="1100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log_SGOT</a:t>
                      </a:r>
                      <a:r>
                        <a:rPr lang="es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5.34 → 4.62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Platelets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190 → 68.5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</a:rPr>
                        <a:t>Sex_M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changes to</a:t>
                      </a:r>
                      <a:r>
                        <a:rPr lang="es" sz="1100">
                          <a:solidFill>
                            <a:schemeClr val="dk1"/>
                          </a:solidFill>
                        </a:rPr>
                        <a:t> 0.9 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2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Platelets</a:t>
                      </a:r>
                      <a:r>
                        <a:rPr lang="es" sz="1100">
                          <a:solidFill>
                            <a:schemeClr val="dk2"/>
                          </a:solidFill>
                        </a:rPr>
                        <a:t> </a:t>
                      </a:r>
                      <a:endParaRPr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190 → 272.5</a:t>
                      </a:r>
                      <a:r>
                        <a:rPr lang="e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7" name="Google Shape;177;p28"/>
          <p:cNvGraphicFramePr/>
          <p:nvPr/>
        </p:nvGraphicFramePr>
        <p:xfrm>
          <a:off x="4653850" y="72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{4304BA39-5CB6-40D3-A47A-5A928CE76852}</a:tableStyleId>
              </a:tblPr>
              <a:tblGrid>
                <a:gridCol w="1768825"/>
                <a:gridCol w="1768825"/>
              </a:tblGrid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Feature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/>
                        <a:t>Value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N_Days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221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100">
                          <a:solidFill>
                            <a:schemeClr val="dk1"/>
                          </a:solidFill>
                        </a:rPr>
                        <a:t>Prothrombin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11.6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Stage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4.0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log_Bilirubin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2.708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log_Copper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6.16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7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Albumin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2.58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8" name="Google Shape;178;p28"/>
          <p:cNvSpPr txBox="1"/>
          <p:nvPr/>
        </p:nvSpPr>
        <p:spPr>
          <a:xfrm>
            <a:off x="2765650" y="0"/>
            <a:ext cx="1888200" cy="5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</a:rPr>
              <a:t>Original Patient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Intrinsic Explainability: Decision Tree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163" y="1123388"/>
            <a:ext cx="8633676" cy="3474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3686400" y="1761025"/>
            <a:ext cx="9795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Bilirubin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1513800" y="2355925"/>
            <a:ext cx="9795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N_Days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5911200" y="2355925"/>
            <a:ext cx="9795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2"/>
                </a:solidFill>
              </a:rPr>
              <a:t>Age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Conclusions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Imputation: MICE marginally best (F1 0.537); structural missingness more limiting than method choice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Class Imbalance: Accuracy misleading on </a:t>
            </a:r>
            <a:r>
              <a:rPr lang="es"/>
              <a:t>imbalance</a:t>
            </a:r>
            <a:r>
              <a:rPr lang="es"/>
              <a:t> data; CL class unpredictable at current size, macro-F1 is the correct metric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Multiclass: Softmax LR (acc 0.738) slightly ahead of OvR and OvO; RF (macro F1 0.55) outperforms DT (0.49)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Explainability: SHAP, LIME, PDP, ALE and DT converge on same top features (log_Bilirubin, Prothrombin, Stage, Albumin), clinically meaningful and consistent with MELD/Child-Pugh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Limitation: N_Days is a leaky feature (shorter follow-up for deceased patients); CL class should be merged with C in production.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Next Steps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Merge CL class with C or apply cost-sensitive learning for the rare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Tune hyperparameters with stratified k-fold cross-validation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Apply feature selection / dimensionality reduction to reduce noise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Evaluate calibration of </a:t>
            </a:r>
            <a:r>
              <a:rPr lang="es"/>
              <a:t>probability</a:t>
            </a:r>
            <a:r>
              <a:rPr lang="es"/>
              <a:t> outputs (Brier score, reliability diagrams)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Explore gradient boosting models (XGBoost, LightGBM) for performance gains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