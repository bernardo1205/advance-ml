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</p:sldIdLst>
  <p:sldSz cx="9144000" cy="5143500" type="screen16x9"/>
  <p:notesSz cx="6858000" cy="9144000"/>
  <p:embeddedFontLst>
    <p:embeddedFont>
      <p:font typeface="Roboto Mono" panose="00000009000000000000" pitchFamily="49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304BA39-5CB6-40D3-A47A-5A928CE76852}">
  <a:tblStyle styleId="{4304BA39-5CB6-40D3-A47A-5A928CE7685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9" d="100"/>
          <a:sy n="99" d="100"/>
        </p:scale>
        <p:origin x="36" y="3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9d1318e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9d1318e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79d1318eb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79d1318eb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79d1318e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79d1318eb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79d1318eb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79d1318eb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79d1318eb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f79d1318eb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79d1318eb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79d1318eb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79d1318eb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79d1318eb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79d1318eb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79d1318eb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79d1318eb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f79d1318eb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79d1318eb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79d1318eb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79d1318eb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79d1318eb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79d1318eb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f79d1318eb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f79d1318eb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f79d1318eb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79d1318eb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79d1318eb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f79d1318eb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f79d1318eb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79d1318e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f79d1318e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f79d1318eb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f79d1318eb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79d1318eb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79d1318eb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139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115392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4280"/>
              <a:t>Explainability and Interpretability</a:t>
            </a:r>
            <a:endParaRPr sz="428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3480" i="1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964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132"/>
              <a:buFont typeface="Arial"/>
              <a:buNone/>
            </a:pPr>
            <a:r>
              <a:rPr lang="es" sz="3180" i="1"/>
              <a:t>Applied to Cirrhosis Patient Survival Prediction</a:t>
            </a:r>
            <a:r>
              <a:rPr lang="es" sz="3480" i="1"/>
              <a:t> </a:t>
            </a:r>
            <a:endParaRPr sz="3480" i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Project Goal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Evaluate imputation strategies on missing clinical 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Address class imbalance in the target variable (Status)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Compare multiclass classification approaches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Explain model predictions using SHAP, LIME, PDP, ALE and DiCE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Dataset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Rows: 418 patients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Target: Status (C | CL | D)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Class imbalance: CL = 6%, C = 55%, D = 39%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Missing values: 106 non-trial patients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Source: cirrhosis.csv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Preprocessing Pipeline</a:t>
            </a:r>
            <a:endParaRPr/>
          </a:p>
        </p:txBody>
      </p:sp>
      <p:sp>
        <p:nvSpPr>
          <p:cNvPr id="73" name="Google Shape;73;p16"/>
          <p:cNvSpPr/>
          <p:nvPr/>
        </p:nvSpPr>
        <p:spPr>
          <a:xfrm>
            <a:off x="452825" y="1205225"/>
            <a:ext cx="632700" cy="681900"/>
          </a:xfrm>
          <a:prstGeom prst="ellipse">
            <a:avLst/>
          </a:prstGeom>
          <a:solidFill>
            <a:schemeClr val="accent5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>
                <a:solidFill>
                  <a:schemeClr val="lt1"/>
                </a:solidFill>
              </a:rPr>
              <a:t>1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52825" y="2045550"/>
            <a:ext cx="632700" cy="681900"/>
          </a:xfrm>
          <a:prstGeom prst="ellipse">
            <a:avLst/>
          </a:prstGeom>
          <a:solidFill>
            <a:schemeClr val="accent5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b="1">
                <a:solidFill>
                  <a:schemeClr val="lt1"/>
                </a:solidFill>
              </a:rPr>
              <a:t>2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452825" y="2885888"/>
            <a:ext cx="632700" cy="681900"/>
          </a:xfrm>
          <a:prstGeom prst="ellipse">
            <a:avLst/>
          </a:prstGeom>
          <a:solidFill>
            <a:schemeClr val="accent5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b="1">
                <a:solidFill>
                  <a:schemeClr val="lt1"/>
                </a:solidFill>
              </a:rPr>
              <a:t>3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452825" y="3726250"/>
            <a:ext cx="632700" cy="681900"/>
          </a:xfrm>
          <a:prstGeom prst="ellipse">
            <a:avLst/>
          </a:prstGeom>
          <a:solidFill>
            <a:schemeClr val="accent5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b="1">
                <a:solidFill>
                  <a:schemeClr val="lt1"/>
                </a:solidFill>
              </a:rPr>
              <a:t>4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1439700" y="1168175"/>
            <a:ext cx="73926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1"/>
                </a:solidFill>
              </a:rPr>
              <a:t>Drop ID + Convert Age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2"/>
                </a:solidFill>
              </a:rPr>
              <a:t>Remove ID column. Convert Age from days to years (Age/365.25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1392625" y="1947725"/>
            <a:ext cx="73926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1"/>
                </a:solidFill>
              </a:rPr>
              <a:t>Log transformation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2"/>
                </a:solidFill>
              </a:rPr>
              <a:t>log(1+x) applied to Bilirubin, Cholesterol, Copper, Alk_Phos, SGOT, Tryglicerides</a:t>
            </a:r>
            <a:endParaRPr sz="1100">
              <a:solidFill>
                <a:srgbClr val="64748B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1439700" y="2848850"/>
            <a:ext cx="73926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1"/>
                </a:solidFill>
              </a:rPr>
              <a:t>Encode Categorical</a:t>
            </a: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2"/>
                </a:solidFill>
              </a:rPr>
              <a:t>get_dummies on Drug, Sex, Ascites, Hepatomegaly, Spiders, Edema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1439700" y="3689200"/>
            <a:ext cx="73926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1"/>
                </a:solidFill>
              </a:rPr>
              <a:t>Train/Test Split</a:t>
            </a: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2"/>
                </a:solidFill>
              </a:rPr>
              <a:t>80/20 stratified split. Imputation fitted only on X_train to avoid data leakage</a:t>
            </a:r>
            <a:endParaRPr sz="15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</a:endParaRPr>
          </a:p>
        </p:txBody>
      </p:sp>
      <p:cxnSp>
        <p:nvCxnSpPr>
          <p:cNvPr id="81" name="Google Shape;81;p16"/>
          <p:cNvCxnSpPr>
            <a:stCxn id="73" idx="4"/>
            <a:endCxn id="74" idx="0"/>
          </p:cNvCxnSpPr>
          <p:nvPr/>
        </p:nvCxnSpPr>
        <p:spPr>
          <a:xfrm>
            <a:off x="769175" y="1887125"/>
            <a:ext cx="0" cy="158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" name="Google Shape;82;p16"/>
          <p:cNvCxnSpPr>
            <a:stCxn id="74" idx="4"/>
            <a:endCxn id="75" idx="0"/>
          </p:cNvCxnSpPr>
          <p:nvPr/>
        </p:nvCxnSpPr>
        <p:spPr>
          <a:xfrm>
            <a:off x="769175" y="2727450"/>
            <a:ext cx="0" cy="158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3" name="Google Shape;83;p16"/>
          <p:cNvCxnSpPr>
            <a:stCxn id="75" idx="4"/>
            <a:endCxn id="76" idx="0"/>
          </p:cNvCxnSpPr>
          <p:nvPr/>
        </p:nvCxnSpPr>
        <p:spPr>
          <a:xfrm>
            <a:off x="769175" y="3567788"/>
            <a:ext cx="0" cy="158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EDA: Status Distribution and Missing Values Analysis</a:t>
            </a:r>
            <a:endParaRPr/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847" y="1268113"/>
            <a:ext cx="4115150" cy="330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6822" y="1535725"/>
            <a:ext cx="4193929" cy="27655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EDA: Numeric Distributions</a:t>
            </a:r>
            <a:endParaRPr/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650" y="1017725"/>
            <a:ext cx="2497076" cy="2021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8900" y="1017725"/>
            <a:ext cx="2497076" cy="2021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5975" y="1017725"/>
            <a:ext cx="2497076" cy="2021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1824" y="3039374"/>
            <a:ext cx="2497076" cy="1964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EDA: Correlation between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5" name="Google Shape;10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6838" y="1122900"/>
            <a:ext cx="5090317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EDA: Case Distribution and Clinical Status by Disease Stage 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7" y="1395072"/>
            <a:ext cx="4166400" cy="33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4050" y="1372645"/>
            <a:ext cx="4166400" cy="3378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Imputation and Class Imbalance</a:t>
            </a:r>
            <a:endParaRPr/>
          </a:p>
        </p:txBody>
      </p:sp>
      <p:graphicFrame>
        <p:nvGraphicFramePr>
          <p:cNvPr id="118" name="Google Shape;118;p21"/>
          <p:cNvGraphicFramePr/>
          <p:nvPr/>
        </p:nvGraphicFramePr>
        <p:xfrm>
          <a:off x="508825" y="1786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{4304BA39-5CB6-40D3-A47A-5A928CE76852}</a:tableStyleId>
              </a:tblPr>
              <a:tblGrid>
                <a:gridCol w="1726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6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lt1"/>
                          </a:solidFill>
                        </a:rPr>
                        <a:t>Strategy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lt1"/>
                          </a:solidFill>
                        </a:rPr>
                        <a:t>Macro F1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MICE </a:t>
                      </a:r>
                      <a:r>
                        <a:rPr lang="es" sz="1200" b="1">
                          <a:solidFill>
                            <a:schemeClr val="accent5"/>
                          </a:solidFill>
                        </a:rPr>
                        <a:t>✓</a:t>
                      </a:r>
                      <a:r>
                        <a:rPr lang="es" sz="1100" b="1">
                          <a:solidFill>
                            <a:schemeClr val="accent5"/>
                          </a:solidFill>
                        </a:rPr>
                        <a:t> </a:t>
                      </a:r>
                      <a:r>
                        <a:rPr lang="es" b="1">
                          <a:solidFill>
                            <a:schemeClr val="accent5"/>
                          </a:solidFill>
                        </a:rPr>
                        <a:t> (selected)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0.537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MissForest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0.526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KNN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0.526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9" name="Google Shape;119;p21"/>
          <p:cNvGraphicFramePr/>
          <p:nvPr/>
        </p:nvGraphicFramePr>
        <p:xfrm>
          <a:off x="4666275" y="1786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{4304BA39-5CB6-40D3-A47A-5A928CE76852}</a:tableStyleId>
              </a:tblPr>
              <a:tblGrid>
                <a:gridCol w="1902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lt1"/>
                          </a:solidFill>
                        </a:rPr>
                        <a:t>Strategy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lt1"/>
                          </a:solidFill>
                        </a:rPr>
                        <a:t>Accuracy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Baseline </a:t>
                      </a:r>
                      <a:r>
                        <a:rPr lang="es" sz="1200" b="1">
                          <a:solidFill>
                            <a:schemeClr val="accent5"/>
                          </a:solidFill>
                        </a:rPr>
                        <a:t>✓ (selected)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0.810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SMOTE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0.774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ENN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0.750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SMOTEENN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0.750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0" name="Google Shape;120;p21"/>
          <p:cNvSpPr txBox="1"/>
          <p:nvPr/>
        </p:nvSpPr>
        <p:spPr>
          <a:xfrm>
            <a:off x="508825" y="1226075"/>
            <a:ext cx="3616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Imputation Strategy Comparison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4666275" y="1226075"/>
            <a:ext cx="3582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Sampling Strategy Comparison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Multiclass Strategies and Model Selection</a:t>
            </a:r>
            <a:endParaRPr/>
          </a:p>
        </p:txBody>
      </p:sp>
      <p:graphicFrame>
        <p:nvGraphicFramePr>
          <p:cNvPr id="127" name="Google Shape;127;p22"/>
          <p:cNvGraphicFramePr/>
          <p:nvPr/>
        </p:nvGraphicFramePr>
        <p:xfrm>
          <a:off x="481600" y="1779350"/>
          <a:ext cx="3443000" cy="1584840"/>
        </p:xfrm>
        <a:graphic>
          <a:graphicData uri="http://schemas.openxmlformats.org/drawingml/2006/table">
            <a:tbl>
              <a:tblPr>
                <a:noFill/>
                <a:tableStyleId>{4304BA39-5CB6-40D3-A47A-5A928CE76852}</a:tableStyleId>
              </a:tblPr>
              <a:tblGrid>
                <a:gridCol w="172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lt1"/>
                          </a:solidFill>
                        </a:rPr>
                        <a:t>Strategy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lt1"/>
                          </a:solidFill>
                        </a:rPr>
                        <a:t>Accuracy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Softmax </a:t>
                      </a:r>
                      <a:r>
                        <a:rPr lang="es" sz="1200" b="1">
                          <a:solidFill>
                            <a:schemeClr val="accent5"/>
                          </a:solidFill>
                        </a:rPr>
                        <a:t>✓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0.738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One-vs-One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0.726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One-vs-Rest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0.726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8" name="Google Shape;128;p22"/>
          <p:cNvGraphicFramePr/>
          <p:nvPr/>
        </p:nvGraphicFramePr>
        <p:xfrm>
          <a:off x="4436450" y="1812325"/>
          <a:ext cx="4009900" cy="2194410"/>
        </p:xfrm>
        <a:graphic>
          <a:graphicData uri="http://schemas.openxmlformats.org/drawingml/2006/table">
            <a:tbl>
              <a:tblPr>
                <a:noFill/>
                <a:tableStyleId>{4304BA39-5CB6-40D3-A47A-5A928CE76852}</a:tableStyleId>
              </a:tblPr>
              <a:tblGrid>
                <a:gridCol w="1002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2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lt1"/>
                          </a:solidFill>
                        </a:rPr>
                        <a:t>Class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lt1"/>
                          </a:solidFill>
                        </a:rPr>
                        <a:t>Precision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lt1"/>
                          </a:solidFill>
                        </a:rPr>
                        <a:t>Recall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lt1"/>
                          </a:solidFill>
                        </a:rPr>
                        <a:t>F1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0.79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0.96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0.87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CL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0.00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0.00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4"/>
                          </a:solidFill>
                        </a:rPr>
                        <a:t>0.00</a:t>
                      </a:r>
                      <a:endParaRPr b="1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0.85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0.72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>
                          <a:solidFill>
                            <a:schemeClr val="accent5"/>
                          </a:solidFill>
                        </a:rPr>
                        <a:t>0.78</a:t>
                      </a:r>
                      <a:endParaRPr b="1">
                        <a:solidFill>
                          <a:schemeClr val="accent5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Macro avg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0.55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0.56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0.55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9" name="Google Shape;129;p22"/>
          <p:cNvSpPr txBox="1"/>
          <p:nvPr/>
        </p:nvSpPr>
        <p:spPr>
          <a:xfrm>
            <a:off x="508825" y="1226075"/>
            <a:ext cx="3616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Multiclass Strategy Comparison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0" name="Google Shape;130;p22"/>
          <p:cNvSpPr txBox="1"/>
          <p:nvPr/>
        </p:nvSpPr>
        <p:spPr>
          <a:xfrm>
            <a:off x="4436450" y="1226075"/>
            <a:ext cx="4160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Random Forest - Classification Report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Model for Cirrhosis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Neural Network Architecture &amp; Optimization</a:t>
            </a:r>
          </a:p>
        </p:txBody>
      </p:sp>
    </p:spTree>
    <p:extLst>
      <p:ext uri="{BB962C8B-B14F-4D97-AF65-F5344CB8AC3E}">
        <p14:creationId xmlns:p14="http://schemas.microsoft.com/office/powerpoint/2010/main" val="3043615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</p:spPr>
        <p:txBody>
          <a:bodyPr wrap="square" anchor="b">
            <a:normAutofit/>
          </a:bodyPr>
          <a:lstStyle/>
          <a:p>
            <a:r>
              <a:t>Project Overview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DBC4769F-BB8B-C44F-1434-B225BBE901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</p:spPr>
        <p:txBody>
          <a:bodyPr wrap="square" anchor="ctr">
            <a:norm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t>Dataset: Cirrhosis Patient Survival Prediction</a:t>
            </a:r>
            <a:endParaRPr lang="es-ES"/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t>Task: Multiclass Classification (3 classes: C, D, CL)</a:t>
            </a:r>
            <a:endParaRPr lang="es-ES"/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t>Input Features: 19 numerical features</a:t>
            </a:r>
            <a:endParaRPr lang="es-ES"/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t>Output: Patient status classification</a:t>
            </a:r>
            <a:endParaRPr lang="es-ES"/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t>Framework: PyTorch + Optuna for hyperparameter tuning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8636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85901" y="342900"/>
            <a:ext cx="445346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rPr sz="3000"/>
              <a:t>Dataset Characteristics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02870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Details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Input Dimension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19 features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Output Classes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3 (C, D, CL)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Target Variable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Status (Cirrhosis outcome)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Main Features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Age, Bilirubin, Albumin, Prothrombin, Platelets, etc.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Preprocessing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Log transformation on skewed columns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9399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Neural Network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Layer 1: Input (19) → Hidden Layer 1 (h1 neurons) + ReLU</a:t>
            </a:r>
          </a:p>
          <a:p>
            <a:r>
              <a:t>Layer 2: Hidden Layer 1 (h1) → Hidden Layer 2 (h2 neurons) + ReLU</a:t>
            </a:r>
          </a:p>
          <a:p>
            <a:r>
              <a:t>Layer 3: Hidden Layer 2 (h2) → Hidden Layer 3 (h3 neurons) + ReLU</a:t>
            </a:r>
          </a:p>
          <a:p>
            <a:r>
              <a:t>Layer 4: Hidden Layer 3 (h3) → Output (3 classes)</a:t>
            </a:r>
          </a:p>
          <a:p>
            <a:endParaRPr/>
          </a:p>
          <a:p>
            <a:r>
              <a:t>Total Parameters: Dynamically tuned via Optuna</a:t>
            </a:r>
          </a:p>
          <a:p>
            <a:r>
              <a:t>Activation Function: ReLU (hidden layers)</a:t>
            </a:r>
          </a:p>
          <a:p>
            <a:r>
              <a:t>Output Activation: None (raw logits for CrossEntropyLoss)</a:t>
            </a:r>
          </a:p>
        </p:txBody>
      </p:sp>
    </p:spTree>
    <p:extLst>
      <p:ext uri="{BB962C8B-B14F-4D97-AF65-F5344CB8AC3E}">
        <p14:creationId xmlns:p14="http://schemas.microsoft.com/office/powerpoint/2010/main" val="1210252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85900" y="342900"/>
            <a:ext cx="582403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rPr sz="3000"/>
              <a:t>Optuna Hyperparameter Space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02870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Range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100"/>
                        <a:t>h1 (Layer 1 neurons)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16 - 128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Integer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100"/>
                        <a:t>h2 (Layer 2 neurons)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16 - 128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Integer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100"/>
                        <a:t>h3 (Layer 3 neurons)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16 - 128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Integer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100"/>
                        <a:t>Learning Rate (lr)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1e-5 - 1e-2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Float (log)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100"/>
                        <a:t>Momentum (beta_1)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0.8 - 1.0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Float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100"/>
                        <a:t>Weight Decay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1e-5 - 1e-1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Float (log)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100"/>
                        <a:t>Scaling (beta_2)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0.9 - 1.0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sz="1100"/>
                        <a:t>Float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697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Training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Optimizer: Adam with dynamic hyperparameters</a:t>
            </a:r>
          </a:p>
          <a:p>
            <a:r>
              <a:rPr dirty="0"/>
              <a:t>Loss Function: </a:t>
            </a:r>
            <a:r>
              <a:rPr dirty="0" err="1"/>
              <a:t>CrossEntropyLoss</a:t>
            </a:r>
            <a:r>
              <a:rPr dirty="0"/>
              <a:t> (multiclass classification)</a:t>
            </a:r>
          </a:p>
          <a:p>
            <a:r>
              <a:rPr dirty="0"/>
              <a:t>Train/Validation/Test Split: 60% / 20% / 20%</a:t>
            </a:r>
          </a:p>
          <a:p>
            <a:r>
              <a:rPr dirty="0"/>
              <a:t>Batch Size: 64</a:t>
            </a:r>
          </a:p>
          <a:p>
            <a:r>
              <a:rPr dirty="0"/>
              <a:t>Scaling: </a:t>
            </a:r>
            <a:r>
              <a:rPr dirty="0" err="1"/>
              <a:t>StandardScaler</a:t>
            </a:r>
            <a:r>
              <a:rPr dirty="0"/>
              <a:t> for input features</a:t>
            </a:r>
          </a:p>
          <a:p>
            <a:r>
              <a:rPr dirty="0"/>
              <a:t>Target Encoding: </a:t>
            </a:r>
            <a:r>
              <a:rPr dirty="0" err="1"/>
              <a:t>LabelEncoder</a:t>
            </a:r>
            <a:r>
              <a:rPr dirty="0"/>
              <a:t> (C→0, D→1, CL→2)</a:t>
            </a:r>
          </a:p>
        </p:txBody>
      </p:sp>
    </p:spTree>
    <p:extLst>
      <p:ext uri="{BB962C8B-B14F-4D97-AF65-F5344CB8AC3E}">
        <p14:creationId xmlns:p14="http://schemas.microsoft.com/office/powerpoint/2010/main" val="4119345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817" y="224711"/>
            <a:ext cx="8520600" cy="5727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Optuna</a:t>
            </a:r>
            <a:r>
              <a:rPr lang="en-US" dirty="0"/>
              <a:t> Results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D0E0DB-FA91-9620-C4A4-5EC766C54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517" y="890607"/>
            <a:ext cx="5471955" cy="16811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FD4C83-AF8C-9C6C-8D0A-DBB719BA5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7" y="2824630"/>
            <a:ext cx="4090737" cy="21494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8A776E-13DB-C16E-23A9-D97EE0B57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494" y="2893545"/>
            <a:ext cx="3928228" cy="86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68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Hyper </a:t>
            </a:r>
            <a:r>
              <a:rPr lang="en-US" dirty="0" err="1"/>
              <a:t>Parametters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8E3917B-48D6-029C-0BD5-F860F3E8E7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H1 : 75</a:t>
            </a:r>
            <a:endParaRPr lang="en-US"/>
          </a:p>
          <a:p>
            <a:pPr>
              <a:spcAft>
                <a:spcPts val="600"/>
              </a:spcAft>
            </a:pPr>
            <a:r>
              <a:rPr lang="en-US" dirty="0"/>
              <a:t>H2 : 126</a:t>
            </a:r>
            <a:endParaRPr lang="en-US"/>
          </a:p>
          <a:p>
            <a:pPr>
              <a:spcAft>
                <a:spcPts val="600"/>
              </a:spcAft>
            </a:pPr>
            <a:r>
              <a:rPr lang="en-US" dirty="0"/>
              <a:t>H3 : 40</a:t>
            </a:r>
            <a:endParaRPr lang="en-US"/>
          </a:p>
          <a:p>
            <a:pPr>
              <a:spcAft>
                <a:spcPts val="600"/>
              </a:spcAft>
            </a:pPr>
            <a:r>
              <a:rPr lang="en-US" dirty="0" err="1"/>
              <a:t>lr</a:t>
            </a:r>
            <a:r>
              <a:rPr lang="en-US" dirty="0"/>
              <a:t> : 0.0075</a:t>
            </a:r>
            <a:endParaRPr lang="en-US"/>
          </a:p>
          <a:p>
            <a:pPr>
              <a:spcAft>
                <a:spcPts val="600"/>
              </a:spcAft>
            </a:pPr>
            <a:r>
              <a:rPr lang="en-US" dirty="0"/>
              <a:t>Momentum : 0.86</a:t>
            </a:r>
            <a:endParaRPr lang="en-US"/>
          </a:p>
          <a:p>
            <a:pPr>
              <a:spcAft>
                <a:spcPts val="600"/>
              </a:spcAft>
            </a:pPr>
            <a:r>
              <a:rPr lang="en-US" dirty="0"/>
              <a:t>Weigh decay : 1.004e-05</a:t>
            </a:r>
            <a:endParaRPr lang="en-US"/>
          </a:p>
          <a:p>
            <a:pPr>
              <a:spcAft>
                <a:spcPts val="600"/>
              </a:spcAft>
            </a:pPr>
            <a:r>
              <a:rPr lang="en-US" dirty="0"/>
              <a:t>Scaling : 0.92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2143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339147"/>
            <a:ext cx="8520600" cy="5727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Results 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D9D350-C058-2F2C-602D-78A3BF0B7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73" y="1120523"/>
            <a:ext cx="8342265" cy="438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C15DAA-024E-35D2-9DC1-5FD369768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638845"/>
            <a:ext cx="8431108" cy="305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469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217AB-DD1B-798A-AFB3-B3A426A90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</p:spPr>
        <p:txBody>
          <a:bodyPr wrap="square" anchor="b">
            <a:normAutofit/>
          </a:bodyPr>
          <a:lstStyle/>
          <a:p>
            <a:r>
              <a:rPr lang="en-US"/>
              <a:t>Explainability</a:t>
            </a:r>
            <a:endParaRPr lang="es-E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5CCD5D6-4DB9-D8A3-BFC0-02111910A5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9562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9250" y="1870238"/>
            <a:ext cx="2800475" cy="3273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61525" y="0"/>
            <a:ext cx="1805375" cy="205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Explainability: SHAP</a:t>
            </a:r>
            <a:endParaRPr/>
          </a:p>
        </p:txBody>
      </p:sp>
      <p:pic>
        <p:nvPicPr>
          <p:cNvPr id="138" name="Google Shape;138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8775" y="1870225"/>
            <a:ext cx="2800475" cy="327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66900" y="1870221"/>
            <a:ext cx="2800475" cy="32732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Local explainability: SHAP</a:t>
            </a:r>
            <a:endParaRPr/>
          </a:p>
        </p:txBody>
      </p:sp>
      <p:pic>
        <p:nvPicPr>
          <p:cNvPr id="145" name="Google Shape;14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2525" y="978075"/>
            <a:ext cx="5353901" cy="4165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PDP (Partial Dependence Plots)</a:t>
            </a:r>
            <a:endParaRPr/>
          </a:p>
        </p:txBody>
      </p:sp>
      <p:pic>
        <p:nvPicPr>
          <p:cNvPr id="151" name="Google Shape;15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2569" y="925800"/>
            <a:ext cx="6378867" cy="14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2575" y="2303772"/>
            <a:ext cx="6378849" cy="14119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82575" y="3715754"/>
            <a:ext cx="6378849" cy="14119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ALE (Accumulated Local Effects)</a:t>
            </a:r>
            <a:endParaRPr/>
          </a:p>
        </p:txBody>
      </p:sp>
      <p:pic>
        <p:nvPicPr>
          <p:cNvPr id="159" name="Google Shape;15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5475" y="1017725"/>
            <a:ext cx="3784250" cy="2097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438" y="888825"/>
            <a:ext cx="4028176" cy="222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849" y="3051781"/>
            <a:ext cx="4237050" cy="2091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05482" y="3051775"/>
            <a:ext cx="3784242" cy="209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Explainability with LIME</a:t>
            </a:r>
            <a:endParaRPr/>
          </a:p>
        </p:txBody>
      </p:sp>
      <p:pic>
        <p:nvPicPr>
          <p:cNvPr id="168" name="Google Shape;16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2679" y="89875"/>
            <a:ext cx="5331197" cy="189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28875" y="3304125"/>
            <a:ext cx="4965001" cy="1769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525" y="1897875"/>
            <a:ext cx="4726514" cy="1683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Counterfactual (DiCE)</a:t>
            </a:r>
            <a:endParaRPr/>
          </a:p>
        </p:txBody>
      </p:sp>
      <p:graphicFrame>
        <p:nvGraphicFramePr>
          <p:cNvPr id="176" name="Google Shape;176;p28"/>
          <p:cNvGraphicFramePr/>
          <p:nvPr/>
        </p:nvGraphicFramePr>
        <p:xfrm>
          <a:off x="952500" y="2725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{4304BA39-5CB6-40D3-A47A-5A928CE76852}</a:tableStyleId>
              </a:tblPr>
              <a:tblGrid>
                <a:gridCol w="1005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7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6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62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Counterfactual 0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Counterfactual 1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Counterfactual 2</a:t>
                      </a:r>
                      <a:endParaRPr/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N_Days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221 → 2514.5 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N_Days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221 → 3738.6 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N_Days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221 → 2515.5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Prothrombin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11.6 → 10.2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Prothrombin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11.6 → 10.4 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Prothrombin</a:t>
                      </a:r>
                      <a:r>
                        <a:rPr lang="es" sz="1100">
                          <a:solidFill>
                            <a:schemeClr val="dk2"/>
                          </a:solidFill>
                        </a:rPr>
                        <a:t>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11.6 → 10.2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Albumin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2.58 → 3.49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log_Copper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6.16 → 4.82 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log_Bilirubin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2.708 → 1.367 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log_SGOT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5.34 → 4.37</a:t>
                      </a:r>
                      <a:endParaRPr sz="1100"/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log_SGOT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5.34 → 4.6</a:t>
                      </a:r>
                      <a:r>
                        <a:rPr lang="es" sz="1100"/>
                        <a:t>5</a:t>
                      </a:r>
                      <a:endParaRPr sz="1100"/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log_SGOT</a:t>
                      </a:r>
                      <a:r>
                        <a:rPr lang="es" sz="1100">
                          <a:solidFill>
                            <a:schemeClr val="dk2"/>
                          </a:solidFill>
                        </a:rPr>
                        <a:t>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5.34 → 4.62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Platelets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190 → 68.5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</a:rPr>
                        <a:t>Sex_M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changes to 0.9 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2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Platelets</a:t>
                      </a:r>
                      <a:r>
                        <a:rPr lang="es" sz="1100">
                          <a:solidFill>
                            <a:schemeClr val="dk2"/>
                          </a:solidFill>
                        </a:rPr>
                        <a:t>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190 → 272.5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7" name="Google Shape;177;p28"/>
          <p:cNvGraphicFramePr/>
          <p:nvPr/>
        </p:nvGraphicFramePr>
        <p:xfrm>
          <a:off x="4653850" y="7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{4304BA39-5CB6-40D3-A47A-5A928CE76852}</a:tableStyleId>
              </a:tblPr>
              <a:tblGrid>
                <a:gridCol w="1768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Feature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Value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N_Days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221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>
                          <a:solidFill>
                            <a:schemeClr val="dk1"/>
                          </a:solidFill>
                        </a:rPr>
                        <a:t>Prothrombin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11.6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Stage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4.0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log_Bilirubin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2.708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log_Copper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6.16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Albumin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/>
                        <a:t>2.58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8" name="Google Shape;178;p28"/>
          <p:cNvSpPr txBox="1"/>
          <p:nvPr/>
        </p:nvSpPr>
        <p:spPr>
          <a:xfrm>
            <a:off x="2765650" y="0"/>
            <a:ext cx="1888200" cy="5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Original Patient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Intrinsic Explainability: Decision Tree</a:t>
            </a:r>
            <a:endParaRPr/>
          </a:p>
        </p:txBody>
      </p:sp>
      <p:sp>
        <p:nvSpPr>
          <p:cNvPr id="184" name="Google Shape;184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5" name="Google Shape;18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163" y="1123388"/>
            <a:ext cx="8633676" cy="3474574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9"/>
          <p:cNvSpPr txBox="1"/>
          <p:nvPr/>
        </p:nvSpPr>
        <p:spPr>
          <a:xfrm>
            <a:off x="3686400" y="1761025"/>
            <a:ext cx="979500" cy="5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2"/>
                </a:solidFill>
              </a:rPr>
              <a:t>Bilirubin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1513800" y="2355925"/>
            <a:ext cx="979500" cy="5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2"/>
                </a:solidFill>
              </a:rPr>
              <a:t>N_Days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88" name="Google Shape;188;p29"/>
          <p:cNvSpPr txBox="1"/>
          <p:nvPr/>
        </p:nvSpPr>
        <p:spPr>
          <a:xfrm>
            <a:off x="5911200" y="2355925"/>
            <a:ext cx="979500" cy="5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2"/>
                </a:solidFill>
              </a:rPr>
              <a:t>Age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Conclusions</a:t>
            </a:r>
            <a:endParaRPr/>
          </a:p>
        </p:txBody>
      </p:sp>
      <p:sp>
        <p:nvSpPr>
          <p:cNvPr id="194" name="Google Shape;194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Imputation: MICE marginally best (F1 0.537); structural missingness more limiting than method choice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Class Imbalance: Accuracy misleading on imbalance data; CL class unpredictable at current size, macro-F1 is the correct metric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Multiclass: Softmax LR (acc 0.738) slightly ahead of OvR and OvO; RF (macro F1 0.55) outperforms DT (0.49)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Explainability: SHAP, LIME, PDP, ALE and DT converge on same top features (log_Bilirubin, Prothrombin, Stage, Albumin), clinically meaningful and consistent with MELD/Child-Pugh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Limitation: N_Days is a leaky feature (shorter follow-up for deceased patients); CL class should be merged with C in production.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Next Steps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Merge CL class with C or apply cost-sensitive learning for the rare class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Tune hyperparameters with stratified k-fold cross-validation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Apply feature selection / dimensionality reduction to reduce noise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Evaluate calibration of probability outputs (Brier score, reliability diagrams)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Explore gradient boosting models (XGBoost, LightGBM) for performance gains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956</Words>
  <Application>Microsoft Office PowerPoint</Application>
  <PresentationFormat>On-screen Show (16:9)</PresentationFormat>
  <Paragraphs>225</Paragraphs>
  <Slides>29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Roboto Mono</vt:lpstr>
      <vt:lpstr>Simple Light</vt:lpstr>
      <vt:lpstr>Explainability and Interpretability </vt:lpstr>
      <vt:lpstr>Project Goal</vt:lpstr>
      <vt:lpstr>Dataset</vt:lpstr>
      <vt:lpstr>Preprocessing Pipeline</vt:lpstr>
      <vt:lpstr>EDA: Status Distribution and Missing Values Analysis</vt:lpstr>
      <vt:lpstr>EDA: Numeric Distributions</vt:lpstr>
      <vt:lpstr>EDA: Correlation between variables </vt:lpstr>
      <vt:lpstr>EDA: Case Distribution and Clinical Status by Disease Stage </vt:lpstr>
      <vt:lpstr>Imputation and Class Imbalance</vt:lpstr>
      <vt:lpstr>Multiclass Strategies and Model Selection</vt:lpstr>
      <vt:lpstr>Deep Learning Model for Cirrhosis Prediction</vt:lpstr>
      <vt:lpstr>Project Overview</vt:lpstr>
      <vt:lpstr>PowerPoint Presentation</vt:lpstr>
      <vt:lpstr>Neural Network Architecture</vt:lpstr>
      <vt:lpstr>PowerPoint Presentation</vt:lpstr>
      <vt:lpstr>Training Configuration</vt:lpstr>
      <vt:lpstr>Optuna Results</vt:lpstr>
      <vt:lpstr>Hyper Parametters </vt:lpstr>
      <vt:lpstr>Results </vt:lpstr>
      <vt:lpstr>Explainability</vt:lpstr>
      <vt:lpstr>Explainability: SHAP</vt:lpstr>
      <vt:lpstr>Local explainability: SHAP</vt:lpstr>
      <vt:lpstr>PDP (Partial Dependence Plots)</vt:lpstr>
      <vt:lpstr>ALE (Accumulated Local Effects)</vt:lpstr>
      <vt:lpstr>Explainability with LIME</vt:lpstr>
      <vt:lpstr>Counterfactual (DiCE)</vt:lpstr>
      <vt:lpstr>Intrinsic Explainability: Decision Tree</vt:lpstr>
      <vt:lpstr>Conclusions</vt:lpstr>
      <vt:lpstr>Next Steps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Bernardo Llata Barata</cp:lastModifiedBy>
  <cp:revision>1</cp:revision>
  <dcterms:modified xsi:type="dcterms:W3CDTF">2026-05-11T16:53:57Z</dcterms:modified>
</cp:coreProperties>
</file>